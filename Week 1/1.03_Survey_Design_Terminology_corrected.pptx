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12" r:id="rId4"/>
  </p:sldMasterIdLst>
  <p:notesMasterIdLst>
    <p:notesMasterId r:id="rId12"/>
  </p:notesMasterIdLst>
  <p:handoutMasterIdLst>
    <p:handoutMasterId r:id="rId13"/>
  </p:handoutMasterIdLst>
  <p:sldIdLst>
    <p:sldId id="310" r:id="rId5"/>
    <p:sldId id="311" r:id="rId6"/>
    <p:sldId id="315" r:id="rId7"/>
    <p:sldId id="316" r:id="rId8"/>
    <p:sldId id="312" r:id="rId9"/>
    <p:sldId id="313" r:id="rId10"/>
    <p:sldId id="31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9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89A143-6552-453A-BD01-457E4339F3ED}" v="14" dt="2023-05-30T13:58:24.802"/>
    <p1510:client id="{C1529B3F-2B59-45E8-B108-C86383615065}" v="21" dt="2023-05-30T13:53:46.3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2" autoAdjust="0"/>
    <p:restoredTop sz="94651" autoAdjust="0"/>
  </p:normalViewPr>
  <p:slideViewPr>
    <p:cSldViewPr>
      <p:cViewPr varScale="1">
        <p:scale>
          <a:sx n="76" d="100"/>
          <a:sy n="76" d="100"/>
        </p:scale>
        <p:origin x="268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McKinney" userId="S::greg.mckinney@strath.ac.uk::bcb1ca51-b321-4f08-8538-ae2e94f9457e" providerId="AD" clId="Web-{4389A143-6552-453A-BD01-457E4339F3ED}"/>
    <pc:docChg chg="modSld">
      <pc:chgData name="Greg McKinney" userId="S::greg.mckinney@strath.ac.uk::bcb1ca51-b321-4f08-8538-ae2e94f9457e" providerId="AD" clId="Web-{4389A143-6552-453A-BD01-457E4339F3ED}" dt="2023-05-30T13:58:24.786" v="6" actId="20577"/>
      <pc:docMkLst>
        <pc:docMk/>
      </pc:docMkLst>
      <pc:sldChg chg="modSp">
        <pc:chgData name="Greg McKinney" userId="S::greg.mckinney@strath.ac.uk::bcb1ca51-b321-4f08-8538-ae2e94f9457e" providerId="AD" clId="Web-{4389A143-6552-453A-BD01-457E4339F3ED}" dt="2023-05-30T13:58:24.786" v="6" actId="20577"/>
        <pc:sldMkLst>
          <pc:docMk/>
          <pc:sldMk cId="931370542" sldId="311"/>
        </pc:sldMkLst>
        <pc:spChg chg="mod">
          <ac:chgData name="Greg McKinney" userId="S::greg.mckinney@strath.ac.uk::bcb1ca51-b321-4f08-8538-ae2e94f9457e" providerId="AD" clId="Web-{4389A143-6552-453A-BD01-457E4339F3ED}" dt="2023-05-30T13:58:24.786" v="6" actId="20577"/>
          <ac:spMkLst>
            <pc:docMk/>
            <pc:sldMk cId="931370542" sldId="311"/>
            <ac:spMk id="6" creationId="{00000000-0000-0000-0000-000000000000}"/>
          </ac:spMkLst>
        </pc:spChg>
      </pc:sldChg>
    </pc:docChg>
  </pc:docChgLst>
  <pc:docChgLst>
    <pc:chgData name="Greg McKinney" userId="S::greg.mckinney@strath.ac.uk::bcb1ca51-b321-4f08-8538-ae2e94f9457e" providerId="AD" clId="Web-{C1529B3F-2B59-45E8-B108-C86383615065}"/>
    <pc:docChg chg="modSld">
      <pc:chgData name="Greg McKinney" userId="S::greg.mckinney@strath.ac.uk::bcb1ca51-b321-4f08-8538-ae2e94f9457e" providerId="AD" clId="Web-{C1529B3F-2B59-45E8-B108-C86383615065}" dt="2023-05-30T13:53:44.816" v="8" actId="20577"/>
      <pc:docMkLst>
        <pc:docMk/>
      </pc:docMkLst>
      <pc:sldChg chg="modSp">
        <pc:chgData name="Greg McKinney" userId="S::greg.mckinney@strath.ac.uk::bcb1ca51-b321-4f08-8538-ae2e94f9457e" providerId="AD" clId="Web-{C1529B3F-2B59-45E8-B108-C86383615065}" dt="2023-05-30T13:53:20.003" v="3" actId="20577"/>
        <pc:sldMkLst>
          <pc:docMk/>
          <pc:sldMk cId="931370542" sldId="311"/>
        </pc:sldMkLst>
        <pc:spChg chg="mod">
          <ac:chgData name="Greg McKinney" userId="S::greg.mckinney@strath.ac.uk::bcb1ca51-b321-4f08-8538-ae2e94f9457e" providerId="AD" clId="Web-{C1529B3F-2B59-45E8-B108-C86383615065}" dt="2023-05-30T13:53:20.003" v="3" actId="20577"/>
          <ac:spMkLst>
            <pc:docMk/>
            <pc:sldMk cId="931370542" sldId="311"/>
            <ac:spMk id="6" creationId="{00000000-0000-0000-0000-000000000000}"/>
          </ac:spMkLst>
        </pc:spChg>
      </pc:sldChg>
      <pc:sldChg chg="modSp">
        <pc:chgData name="Greg McKinney" userId="S::greg.mckinney@strath.ac.uk::bcb1ca51-b321-4f08-8538-ae2e94f9457e" providerId="AD" clId="Web-{C1529B3F-2B59-45E8-B108-C86383615065}" dt="2023-05-30T13:53:44.816" v="8" actId="20577"/>
        <pc:sldMkLst>
          <pc:docMk/>
          <pc:sldMk cId="3798822934" sldId="312"/>
        </pc:sldMkLst>
        <pc:spChg chg="mod">
          <ac:chgData name="Greg McKinney" userId="S::greg.mckinney@strath.ac.uk::bcb1ca51-b321-4f08-8538-ae2e94f9457e" providerId="AD" clId="Web-{C1529B3F-2B59-45E8-B108-C86383615065}" dt="2023-05-30T13:53:44.816" v="8" actId="20577"/>
          <ac:spMkLst>
            <pc:docMk/>
            <pc:sldMk cId="3798822934" sldId="312"/>
            <ac:spMk id="3" creationId="{00000000-0000-0000-0000-000000000000}"/>
          </ac:spMkLst>
        </pc:spChg>
      </pc:sldChg>
      <pc:sldChg chg="modSp">
        <pc:chgData name="Greg McKinney" userId="S::greg.mckinney@strath.ac.uk::bcb1ca51-b321-4f08-8538-ae2e94f9457e" providerId="AD" clId="Web-{C1529B3F-2B59-45E8-B108-C86383615065}" dt="2023-05-30T13:53:28.378" v="5" actId="20577"/>
        <pc:sldMkLst>
          <pc:docMk/>
          <pc:sldMk cId="3293833340" sldId="315"/>
        </pc:sldMkLst>
        <pc:spChg chg="mod">
          <ac:chgData name="Greg McKinney" userId="S::greg.mckinney@strath.ac.uk::bcb1ca51-b321-4f08-8538-ae2e94f9457e" providerId="AD" clId="Web-{C1529B3F-2B59-45E8-B108-C86383615065}" dt="2023-05-30T13:53:28.378" v="5" actId="20577"/>
          <ac:spMkLst>
            <pc:docMk/>
            <pc:sldMk cId="3293833340" sldId="315"/>
            <ac:spMk id="6" creationId="{00000000-0000-0000-0000-000000000000}"/>
          </ac:spMkLst>
        </pc:spChg>
      </pc:sldChg>
      <pc:sldChg chg="modSp">
        <pc:chgData name="Greg McKinney" userId="S::greg.mckinney@strath.ac.uk::bcb1ca51-b321-4f08-8538-ae2e94f9457e" providerId="AD" clId="Web-{C1529B3F-2B59-45E8-B108-C86383615065}" dt="2023-05-30T13:53:37.800" v="7" actId="20577"/>
        <pc:sldMkLst>
          <pc:docMk/>
          <pc:sldMk cId="2627490481" sldId="316"/>
        </pc:sldMkLst>
        <pc:spChg chg="mod">
          <ac:chgData name="Greg McKinney" userId="S::greg.mckinney@strath.ac.uk::bcb1ca51-b321-4f08-8538-ae2e94f9457e" providerId="AD" clId="Web-{C1529B3F-2B59-45E8-B108-C86383615065}" dt="2023-05-30T13:53:37.800" v="7" actId="20577"/>
          <ac:spMkLst>
            <pc:docMk/>
            <pc:sldMk cId="2627490481" sldId="316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FC69D-A663-4269-9144-7853E6E91F73}" type="datetimeFigureOut">
              <a:rPr lang="en-GB" smtClean="0"/>
              <a:t>21/10/2024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1AF17-0A95-4253-B372-BE83488750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03531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0290-3C19-4EA4-829B-5DF204D69B6D}" type="datetimeFigureOut">
              <a:rPr lang="en-GB" smtClean="0"/>
              <a:t>21/10/2024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F5D46-9C25-45BB-A287-336B8DCD5D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1088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2113" y="692150"/>
            <a:ext cx="6073775" cy="3417888"/>
          </a:xfrm>
          <a:ln cap="flat"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FD3F8-CB53-4A37-B2F4-D19160C574A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7320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FD3F8-CB53-4A37-B2F4-D19160C574A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595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FD3F8-CB53-4A37-B2F4-D19160C574A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024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FD3F8-CB53-4A37-B2F4-D19160C574A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335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FD3F8-CB53-4A37-B2F4-D19160C574A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215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FD3F8-CB53-4A37-B2F4-D19160C574A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25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44824"/>
            <a:ext cx="10464800" cy="1454002"/>
          </a:xfrm>
        </p:spPr>
        <p:txBody>
          <a:bodyPr anchor="b">
            <a:noAutofit/>
          </a:bodyPr>
          <a:lstStyle>
            <a:lvl1pPr>
              <a:defRPr sz="4400" cap="all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4888" y="0"/>
            <a:ext cx="1484312" cy="166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916832"/>
            <a:ext cx="10769600" cy="4560168"/>
          </a:xfrm>
        </p:spPr>
        <p:txBody>
          <a:bodyPr/>
          <a:lstStyle>
            <a:lvl1pPr marL="182880" indent="-182880">
              <a:buClrTx/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-182880">
              <a:buClrTx/>
              <a:buFont typeface="Arial" panose="020B0604020202020204" pitchFamily="34" charset="0"/>
              <a:buChar char="-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31520" indent="-18288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4888" y="0"/>
            <a:ext cx="1484312" cy="166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09600" y="533399"/>
            <a:ext cx="9158808" cy="1127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9086800" cy="990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844824"/>
            <a:ext cx="5270376" cy="4546832"/>
          </a:xfrm>
        </p:spPr>
        <p:txBody>
          <a:bodyPr/>
          <a:lstStyle>
            <a:lvl1pPr>
              <a:defRPr sz="2800"/>
            </a:lvl1pPr>
            <a:lvl2pPr marL="457200" indent="-182880">
              <a:buFont typeface="Arial" panose="020B0604020202020204" pitchFamily="34" charset="0"/>
              <a:buChar char="-"/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844824"/>
            <a:ext cx="5181600" cy="4546832"/>
          </a:xfrm>
        </p:spPr>
        <p:txBody>
          <a:bodyPr/>
          <a:lstStyle>
            <a:lvl1pPr>
              <a:defRPr sz="2800"/>
            </a:lvl1pPr>
            <a:lvl2pPr marL="457200" indent="-182880">
              <a:buFont typeface="Arial" panose="020B0604020202020204" pitchFamily="34" charset="0"/>
              <a:buChar char="-"/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4888" y="0"/>
            <a:ext cx="1484312" cy="166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62400" y="2130553"/>
            <a:ext cx="7390184" cy="4239367"/>
          </a:xfrm>
        </p:spPr>
        <p:txBody>
          <a:bodyPr/>
          <a:lstStyle>
            <a:lvl1pPr>
              <a:defRPr sz="3200"/>
            </a:lvl1pPr>
            <a:lvl2pPr marL="457200" indent="-182880">
              <a:buFont typeface="Arial" panose="020B0604020202020204" pitchFamily="34" charset="0"/>
              <a:buChar char="-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9158808" cy="10954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09600" y="1844824"/>
            <a:ext cx="5126360" cy="4679801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240016" y="1844824"/>
            <a:ext cx="5113214" cy="4679801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341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9158808" cy="10954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240016" y="1844824"/>
            <a:ext cx="5113214" cy="4679801"/>
          </a:xfrm>
        </p:spPr>
        <p:txBody>
          <a:bodyPr/>
          <a:lstStyle/>
          <a:p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95325" y="1844824"/>
            <a:ext cx="5256213" cy="4679801"/>
          </a:xfrm>
        </p:spPr>
        <p:txBody>
          <a:bodyPr/>
          <a:lstStyle>
            <a:lvl2pPr marL="457200" indent="-182880">
              <a:buFont typeface="Arial" panose="020B0604020202020204" pitchFamily="34" charset="0"/>
              <a:buChar char="-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72022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09600" y="2060575"/>
            <a:ext cx="10742613" cy="424815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07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399"/>
            <a:ext cx="9158808" cy="1127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988840"/>
            <a:ext cx="10769600" cy="4488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9" name="Picture 5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4888" y="0"/>
            <a:ext cx="1484312" cy="166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6" r:id="rId3"/>
    <p:sldLayoutId id="2147483920" r:id="rId4"/>
    <p:sldLayoutId id="2147483921" r:id="rId5"/>
    <p:sldLayoutId id="2147483923" r:id="rId6"/>
    <p:sldLayoutId id="2147483922" r:id="rId7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Tx/>
        <a:buSzPct val="8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-182880" algn="l" defTabSz="914400" rtl="0" eaLnBrk="1" latinLnBrk="0" hangingPunct="1">
        <a:spcBef>
          <a:spcPct val="20000"/>
        </a:spcBef>
        <a:buClrTx/>
        <a:buSzPct val="8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3200" cap="none" dirty="0">
                <a:solidFill>
                  <a:schemeClr val="tx1"/>
                </a:solidFill>
                <a:latin typeface="Calibri" panose="020F0502020204030204" pitchFamily="34" charset="0"/>
              </a:rPr>
              <a:t>Survey design terminology</a:t>
            </a:r>
          </a:p>
        </p:txBody>
      </p:sp>
      <p:pic>
        <p:nvPicPr>
          <p:cNvPr id="7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4888" y="0"/>
            <a:ext cx="1484312" cy="166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155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476672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/>
              <a:t>Survey design terminology: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546" y="1988840"/>
            <a:ext cx="10956062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Element: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individuals or objects or units of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interest.</a:t>
            </a:r>
          </a:p>
          <a:p>
            <a:pPr marL="914400" lvl="1" indent="-457200" algn="just">
              <a:buFont typeface="Arial" panose="05000000000000000000" pitchFamily="2" charset="2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Usually made with reference to the population and/or sample.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Target population: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entire collection of the elements about which we wish to make inference on.</a:t>
            </a:r>
          </a:p>
          <a:p>
            <a:pPr marL="800100" lvl="1" indent="-342900" algn="just">
              <a:buFont typeface="Arial" panose="05000000000000000000" pitchFamily="2" charset="2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I.e. the total finite population about which we require information.</a:t>
            </a:r>
          </a:p>
          <a:p>
            <a:pPr marL="800100" lvl="1" indent="-342900" algn="just">
              <a:buFont typeface="Arial" panose="05000000000000000000" pitchFamily="2" charset="2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 an ideal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world, this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is the population we want to make inference on.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370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476672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/>
              <a:t>Survey design terminology: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6642" y="2060848"/>
            <a:ext cx="10879957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/>
                <a:cs typeface="Arial"/>
              </a:rPr>
              <a:t>Survey population</a:t>
            </a:r>
            <a:r>
              <a:rPr lang="en-GB" sz="2400" dirty="0">
                <a:latin typeface="Arial"/>
                <a:cs typeface="Arial"/>
              </a:rPr>
              <a:t>: the population we actually sample from.</a:t>
            </a:r>
          </a:p>
          <a:p>
            <a:pPr marL="914400" lvl="1" indent="-457200" algn="just">
              <a:buFont typeface="Arial" panose="05000000000000000000" pitchFamily="2" charset="2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Think of this as the population we realistically have access to.</a:t>
            </a:r>
          </a:p>
          <a:p>
            <a:pPr marL="914400" lvl="1" indent="-457200" algn="just">
              <a:buFont typeface="Arial" panose="05000000000000000000" pitchFamily="2" charset="2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May be the same as the target population.</a:t>
            </a:r>
          </a:p>
          <a:p>
            <a:pPr marL="914400" lvl="1" indent="-457200" algn="just">
              <a:buFont typeface="Arial" panose="05000000000000000000" pitchFamily="2" charset="2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May be a more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, more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accessible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population, whose properties we hope can be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extrapolated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to the larger target population.</a:t>
            </a:r>
          </a:p>
          <a:p>
            <a:pPr marL="914400" lvl="1" indent="-457200" algn="just">
              <a:buFont typeface="Arial" panose="05000000000000000000" pitchFamily="2" charset="2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Care must be taken when extending inference from this population to the target population.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833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476672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/>
              <a:t>Survey design terminology: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408" y="2060848"/>
            <a:ext cx="10945216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Characteristic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 a variable of interest of the elements.</a:t>
            </a:r>
          </a:p>
          <a:p>
            <a:pPr marL="914400" lvl="1" indent="-457200" algn="just">
              <a:buFont typeface="Arial" panose="05000000000000000000" pitchFamily="2" charset="2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Usually made with reference to the population and/or sample.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Population parameter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 a mathematical function of the values of the variables across the </a:t>
            </a:r>
            <a:r>
              <a:rPr lang="en-GB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whole population.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14400" lvl="1" indent="-457200" algn="just">
              <a:buFont typeface="Arial" panose="05000000000000000000" pitchFamily="2" charset="2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E.g.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average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debt of UK graduates,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proportion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of UK population that are homeless.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490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11424" y="2132856"/>
            <a:ext cx="10657184" cy="267765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Sampling frame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 a complete and up-to-date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list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 all the accessible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elements in the population. </a:t>
            </a:r>
          </a:p>
          <a:p>
            <a:pPr marL="800100" lvl="1" indent="-342900" algn="just">
              <a:buFont typeface="Arial" panose="05000000000000000000" pitchFamily="2" charset="2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I.e. what we would sample from.</a:t>
            </a:r>
          </a:p>
          <a:p>
            <a:pPr marL="800100" lvl="1" indent="-342900" algn="just">
              <a:buFont typeface="Arial" panose="05000000000000000000" pitchFamily="2" charset="2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Usually a subset of the survey population. 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Sample statistic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 a mathematical function of the variables observed </a:t>
            </a:r>
            <a:r>
              <a:rPr lang="en-GB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in the sample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23392" y="476672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/>
              <a:t>Survey design terminology:</a:t>
            </a:r>
          </a:p>
        </p:txBody>
      </p:sp>
    </p:spTree>
    <p:extLst>
      <p:ext uri="{BB962C8B-B14F-4D97-AF65-F5344CB8AC3E}">
        <p14:creationId xmlns:p14="http://schemas.microsoft.com/office/powerpoint/2010/main" val="3798822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11424" y="2132856"/>
            <a:ext cx="102971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Sampling units: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units or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objects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which form the sampling frame.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 a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of sampling units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drawn from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 sampling frame.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 the values of the variables in the sample (sometimes referred to as the sample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3392" y="476672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/>
              <a:t>Survey design terminology:</a:t>
            </a:r>
          </a:p>
        </p:txBody>
      </p:sp>
    </p:spTree>
    <p:extLst>
      <p:ext uri="{BB962C8B-B14F-4D97-AF65-F5344CB8AC3E}">
        <p14:creationId xmlns:p14="http://schemas.microsoft.com/office/powerpoint/2010/main" val="2710020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76" y="473075"/>
            <a:ext cx="9158808" cy="1127125"/>
          </a:xfrm>
        </p:spPr>
        <p:txBody>
          <a:bodyPr>
            <a:normAutofit/>
          </a:bodyPr>
          <a:lstStyle/>
          <a:p>
            <a:r>
              <a:rPr lang="en-GB" dirty="0"/>
              <a:t>A rough visualisation of definitions…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1772816"/>
            <a:ext cx="8568951" cy="4925144"/>
          </a:xfrm>
        </p:spPr>
      </p:pic>
    </p:spTree>
    <p:extLst>
      <p:ext uri="{BB962C8B-B14F-4D97-AF65-F5344CB8AC3E}">
        <p14:creationId xmlns:p14="http://schemas.microsoft.com/office/powerpoint/2010/main" val="9613403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FCED9AAC8BC94DBFBA104CDB896857" ma:contentTypeVersion="9" ma:contentTypeDescription="Create a new document." ma:contentTypeScope="" ma:versionID="04e73781aca7e9cd469abd2e6ae93670">
  <xsd:schema xmlns:xsd="http://www.w3.org/2001/XMLSchema" xmlns:xs="http://www.w3.org/2001/XMLSchema" xmlns:p="http://schemas.microsoft.com/office/2006/metadata/properties" xmlns:ns2="cd633012-b6ca-4eb4-aeb4-61f7d7608a2c" xmlns:ns3="b4a4f2ad-103a-4f33-bcfd-23c76e3c2d4b" targetNamespace="http://schemas.microsoft.com/office/2006/metadata/properties" ma:root="true" ma:fieldsID="d3c50623b4bf949e1de4317796255db6" ns2:_="" ns3:_="">
    <xsd:import namespace="cd633012-b6ca-4eb4-aeb4-61f7d7608a2c"/>
    <xsd:import namespace="b4a4f2ad-103a-4f33-bcfd-23c76e3c2d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633012-b6ca-4eb4-aeb4-61f7d7608a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87865813-b24e-4515-aac3-72cd3b0aa1d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a4f2ad-103a-4f33-bcfd-23c76e3c2d4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03341f5-a899-44af-b7f8-3e541a54f563}" ma:internalName="TaxCatchAll" ma:showField="CatchAllData" ma:web="b4a4f2ad-103a-4f33-bcfd-23c76e3c2d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d633012-b6ca-4eb4-aeb4-61f7d7608a2c">
      <Terms xmlns="http://schemas.microsoft.com/office/infopath/2007/PartnerControls"/>
    </lcf76f155ced4ddcb4097134ff3c332f>
    <TaxCatchAll xmlns="b4a4f2ad-103a-4f33-bcfd-23c76e3c2d4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3B5005-E979-40D0-88B2-A1D4D8CD44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633012-b6ca-4eb4-aeb4-61f7d7608a2c"/>
    <ds:schemaRef ds:uri="b4a4f2ad-103a-4f33-bcfd-23c76e3c2d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8B60F9-AC66-4974-91A3-421574E05255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www.w3.org/XML/1998/namespace"/>
    <ds:schemaRef ds:uri="http://purl.org/dc/terms/"/>
    <ds:schemaRef ds:uri="b4a4f2ad-103a-4f33-bcfd-23c76e3c2d4b"/>
    <ds:schemaRef ds:uri="cd633012-b6ca-4eb4-aeb4-61f7d7608a2c"/>
  </ds:schemaRefs>
</ds:datastoreItem>
</file>

<file path=customXml/itemProps3.xml><?xml version="1.0" encoding="utf-8"?>
<ds:datastoreItem xmlns:ds="http://schemas.openxmlformats.org/officeDocument/2006/customXml" ds:itemID="{86B1D921-45EF-4620-BEA7-3180FA52A0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1464</TotalTime>
  <Words>314</Words>
  <Application>Microsoft Office PowerPoint</Application>
  <PresentationFormat>Widescreen</PresentationFormat>
  <Paragraphs>40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Wingdings</vt:lpstr>
      <vt:lpstr>Clarity</vt:lpstr>
      <vt:lpstr>Survey design terminology</vt:lpstr>
      <vt:lpstr>Survey design terminology:</vt:lpstr>
      <vt:lpstr>Survey design terminology:</vt:lpstr>
      <vt:lpstr>Survey design terminology:</vt:lpstr>
      <vt:lpstr>Survey design terminology:</vt:lpstr>
      <vt:lpstr>Survey design terminology:</vt:lpstr>
      <vt:lpstr>A rough visualisation of definitions…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Study</dc:title>
  <dc:creator>Stephen Corson</dc:creator>
  <cp:lastModifiedBy>Alison Gray</cp:lastModifiedBy>
  <cp:revision>243</cp:revision>
  <dcterms:created xsi:type="dcterms:W3CDTF">2014-09-02T10:17:54Z</dcterms:created>
  <dcterms:modified xsi:type="dcterms:W3CDTF">2024-10-21T21:07:05Z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0x010100A5FCED9AAC8BC94DBFBA104CDB896857</vt:lpwstr>
  </property>
</Properties>
</file>